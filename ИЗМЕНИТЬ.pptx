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CCE5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55A3D-ECFE-4296-9205-CC640421033D}" type="doc">
      <dgm:prSet loTypeId="urn:diagrams.loki3.com/TabbedArc+Icon" loCatId="officeonline" qsTypeId="urn:microsoft.com/office/officeart/2005/8/quickstyle/simple3" qsCatId="simple" csTypeId="urn:microsoft.com/office/officeart/2005/8/colors/accent1_2" csCatId="accent1" phldr="0"/>
      <dgm:spPr/>
    </dgm:pt>
    <dgm:pt modelId="{5C718472-5DBB-4937-A91B-948228FD6DC6}">
      <dgm:prSet phldrT="[Text]" phldr="1"/>
      <dgm:spPr/>
      <dgm:t>
        <a:bodyPr/>
        <a:lstStyle/>
        <a:p>
          <a:endParaRPr lang="ru-RU" dirty="0"/>
        </a:p>
      </dgm:t>
    </dgm:pt>
    <dgm:pt modelId="{A8087770-380B-4D68-96B0-8F4CC4949A28}" type="parTrans" cxnId="{60ED74C1-06A4-4CAB-8AF3-DB86B3C6F975}">
      <dgm:prSet/>
      <dgm:spPr/>
      <dgm:t>
        <a:bodyPr/>
        <a:lstStyle/>
        <a:p>
          <a:endParaRPr lang="ru-RU"/>
        </a:p>
      </dgm:t>
    </dgm:pt>
    <dgm:pt modelId="{5B0459BC-1AB7-4B82-BF52-AF6269F17356}" type="sibTrans" cxnId="{60ED74C1-06A4-4CAB-8AF3-DB86B3C6F975}">
      <dgm:prSet/>
      <dgm:spPr/>
      <dgm:t>
        <a:bodyPr/>
        <a:lstStyle/>
        <a:p>
          <a:endParaRPr lang="ru-RU"/>
        </a:p>
      </dgm:t>
    </dgm:pt>
    <dgm:pt modelId="{853EFB77-FD99-4AB7-B280-C6DF151E5A5D}">
      <dgm:prSet phldrT="[Text]" phldr="1"/>
      <dgm:spPr/>
      <dgm:t>
        <a:bodyPr/>
        <a:lstStyle/>
        <a:p>
          <a:endParaRPr lang="ru-RU" dirty="0"/>
        </a:p>
      </dgm:t>
    </dgm:pt>
    <dgm:pt modelId="{0EAC138F-4B34-4F33-93C6-5324DB4D7BB1}" type="parTrans" cxnId="{A93EDD27-A54B-4112-94A7-5A5D86BE3264}">
      <dgm:prSet/>
      <dgm:spPr/>
      <dgm:t>
        <a:bodyPr/>
        <a:lstStyle/>
        <a:p>
          <a:endParaRPr lang="ru-RU"/>
        </a:p>
      </dgm:t>
    </dgm:pt>
    <dgm:pt modelId="{E5EEC4AA-D44C-4BA5-BF5C-8AF173802090}" type="sibTrans" cxnId="{A93EDD27-A54B-4112-94A7-5A5D86BE3264}">
      <dgm:prSet/>
      <dgm:spPr/>
      <dgm:t>
        <a:bodyPr/>
        <a:lstStyle/>
        <a:p>
          <a:endParaRPr lang="ru-RU"/>
        </a:p>
      </dgm:t>
    </dgm:pt>
    <dgm:pt modelId="{4D5B54E1-CB84-4FB6-8673-A8F06219CBAB}">
      <dgm:prSet phldrT="[Text]" phldr="1"/>
      <dgm:spPr/>
      <dgm:t>
        <a:bodyPr/>
        <a:lstStyle/>
        <a:p>
          <a:endParaRPr lang="ru-RU"/>
        </a:p>
      </dgm:t>
    </dgm:pt>
    <dgm:pt modelId="{A82720BD-699A-450D-A6C0-DBE59A25DBB7}" type="parTrans" cxnId="{DCAE7DAB-9144-4ED0-AE7C-4C90501F481A}">
      <dgm:prSet/>
      <dgm:spPr/>
      <dgm:t>
        <a:bodyPr/>
        <a:lstStyle/>
        <a:p>
          <a:endParaRPr lang="ru-RU"/>
        </a:p>
      </dgm:t>
    </dgm:pt>
    <dgm:pt modelId="{4E518E54-6945-4152-B3E0-752BBCCFECA2}" type="sibTrans" cxnId="{DCAE7DAB-9144-4ED0-AE7C-4C90501F481A}">
      <dgm:prSet/>
      <dgm:spPr/>
      <dgm:t>
        <a:bodyPr/>
        <a:lstStyle/>
        <a:p>
          <a:endParaRPr lang="ru-RU"/>
        </a:p>
      </dgm:t>
    </dgm:pt>
    <dgm:pt modelId="{AC31BBA5-4E31-4EB8-9236-8A3AAAD7C36C}" type="pres">
      <dgm:prSet presAssocID="{E3655A3D-ECFE-4296-9205-CC640421033D}" presName="Name0" presStyleCnt="0">
        <dgm:presLayoutVars>
          <dgm:dir/>
          <dgm:resizeHandles val="exact"/>
        </dgm:presLayoutVars>
      </dgm:prSet>
      <dgm:spPr/>
    </dgm:pt>
    <dgm:pt modelId="{407E3E3E-B77E-45BB-B2A5-B0E0AA4BA831}" type="pres">
      <dgm:prSet presAssocID="{5C718472-5DBB-4937-A91B-948228FD6DC6}" presName="twoplus" presStyleLbl="node1" presStyleIdx="0" presStyleCnt="3">
        <dgm:presLayoutVars>
          <dgm:bulletEnabled val="1"/>
        </dgm:presLayoutVars>
      </dgm:prSet>
      <dgm:spPr/>
    </dgm:pt>
    <dgm:pt modelId="{D34DF510-9009-4D0B-983D-C9B2A05649F1}" type="pres">
      <dgm:prSet presAssocID="{853EFB77-FD99-4AB7-B280-C6DF151E5A5D}" presName="twoplus" presStyleLbl="node1" presStyleIdx="1" presStyleCnt="3">
        <dgm:presLayoutVars>
          <dgm:bulletEnabled val="1"/>
        </dgm:presLayoutVars>
      </dgm:prSet>
      <dgm:spPr/>
    </dgm:pt>
    <dgm:pt modelId="{B5EDCED7-5A8D-4E91-B340-FBD43DE46671}" type="pres">
      <dgm:prSet presAssocID="{4D5B54E1-CB84-4FB6-8673-A8F06219CBAB}" presName="twoplus" presStyleLbl="node1" presStyleIdx="2" presStyleCnt="3">
        <dgm:presLayoutVars>
          <dgm:bulletEnabled val="1"/>
        </dgm:presLayoutVars>
      </dgm:prSet>
      <dgm:spPr/>
    </dgm:pt>
  </dgm:ptLst>
  <dgm:cxnLst>
    <dgm:cxn modelId="{A93EDD27-A54B-4112-94A7-5A5D86BE3264}" srcId="{E3655A3D-ECFE-4296-9205-CC640421033D}" destId="{853EFB77-FD99-4AB7-B280-C6DF151E5A5D}" srcOrd="1" destOrd="0" parTransId="{0EAC138F-4B34-4F33-93C6-5324DB4D7BB1}" sibTransId="{E5EEC4AA-D44C-4BA5-BF5C-8AF173802090}"/>
    <dgm:cxn modelId="{08B3A152-E280-4C8B-887A-48C584E0B1EB}" type="presOf" srcId="{5C718472-5DBB-4937-A91B-948228FD6DC6}" destId="{407E3E3E-B77E-45BB-B2A5-B0E0AA4BA831}" srcOrd="0" destOrd="0" presId="urn:diagrams.loki3.com/TabbedArc+Icon"/>
    <dgm:cxn modelId="{8EA1A455-F9F8-433C-8CC2-405134F40A3B}" type="presOf" srcId="{4D5B54E1-CB84-4FB6-8673-A8F06219CBAB}" destId="{B5EDCED7-5A8D-4E91-B340-FBD43DE46671}" srcOrd="0" destOrd="0" presId="urn:diagrams.loki3.com/TabbedArc+Icon"/>
    <dgm:cxn modelId="{2C903791-487C-4099-A0FF-A8F59CCD4BA8}" type="presOf" srcId="{853EFB77-FD99-4AB7-B280-C6DF151E5A5D}" destId="{D34DF510-9009-4D0B-983D-C9B2A05649F1}" srcOrd="0" destOrd="0" presId="urn:diagrams.loki3.com/TabbedArc+Icon"/>
    <dgm:cxn modelId="{DCAE7DAB-9144-4ED0-AE7C-4C90501F481A}" srcId="{E3655A3D-ECFE-4296-9205-CC640421033D}" destId="{4D5B54E1-CB84-4FB6-8673-A8F06219CBAB}" srcOrd="2" destOrd="0" parTransId="{A82720BD-699A-450D-A6C0-DBE59A25DBB7}" sibTransId="{4E518E54-6945-4152-B3E0-752BBCCFECA2}"/>
    <dgm:cxn modelId="{60ED74C1-06A4-4CAB-8AF3-DB86B3C6F975}" srcId="{E3655A3D-ECFE-4296-9205-CC640421033D}" destId="{5C718472-5DBB-4937-A91B-948228FD6DC6}" srcOrd="0" destOrd="0" parTransId="{A8087770-380B-4D68-96B0-8F4CC4949A28}" sibTransId="{5B0459BC-1AB7-4B82-BF52-AF6269F17356}"/>
    <dgm:cxn modelId="{BA3A76FB-C003-48D3-9845-CC4F63FEE289}" type="presOf" srcId="{E3655A3D-ECFE-4296-9205-CC640421033D}" destId="{AC31BBA5-4E31-4EB8-9236-8A3AAAD7C36C}" srcOrd="0" destOrd="0" presId="urn:diagrams.loki3.com/TabbedArc+Icon"/>
    <dgm:cxn modelId="{FFB9DEF1-8DE9-4908-9A6D-15F04738CF89}" type="presParOf" srcId="{AC31BBA5-4E31-4EB8-9236-8A3AAAD7C36C}" destId="{407E3E3E-B77E-45BB-B2A5-B0E0AA4BA831}" srcOrd="0" destOrd="0" presId="urn:diagrams.loki3.com/TabbedArc+Icon"/>
    <dgm:cxn modelId="{0135A1CF-5CE3-4AF4-B22C-613F8B94EEA4}" type="presParOf" srcId="{AC31BBA5-4E31-4EB8-9236-8A3AAAD7C36C}" destId="{D34DF510-9009-4D0B-983D-C9B2A05649F1}" srcOrd="1" destOrd="0" presId="urn:diagrams.loki3.com/TabbedArc+Icon"/>
    <dgm:cxn modelId="{D1C11A81-7658-4772-9107-D4F3631B4101}" type="presParOf" srcId="{AC31BBA5-4E31-4EB8-9236-8A3AAAD7C36C}" destId="{B5EDCED7-5A8D-4E91-B340-FBD43DE46671}" srcOrd="2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E3E3E-B77E-45BB-B2A5-B0E0AA4BA831}">
      <dsp:nvSpPr>
        <dsp:cNvPr id="0" name=""/>
        <dsp:cNvSpPr/>
      </dsp:nvSpPr>
      <dsp:spPr>
        <a:xfrm rot="19200000">
          <a:off x="3197" y="2377256"/>
          <a:ext cx="2790853" cy="1814054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82550" rIns="2476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500" kern="1200" dirty="0"/>
        </a:p>
      </dsp:txBody>
      <dsp:txXfrm>
        <a:off x="120213" y="2455452"/>
        <a:ext cx="2613743" cy="1725499"/>
      </dsp:txXfrm>
    </dsp:sp>
    <dsp:sp modelId="{D34DF510-9009-4D0B-983D-C9B2A05649F1}">
      <dsp:nvSpPr>
        <dsp:cNvPr id="0" name=""/>
        <dsp:cNvSpPr/>
      </dsp:nvSpPr>
      <dsp:spPr>
        <a:xfrm>
          <a:off x="3162522" y="1227355"/>
          <a:ext cx="2790853" cy="1814054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82550" rIns="2476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500" kern="1200" dirty="0"/>
        </a:p>
      </dsp:txBody>
      <dsp:txXfrm>
        <a:off x="3251077" y="1315910"/>
        <a:ext cx="2613743" cy="1725499"/>
      </dsp:txXfrm>
    </dsp:sp>
    <dsp:sp modelId="{B5EDCED7-5A8D-4E91-B340-FBD43DE46671}">
      <dsp:nvSpPr>
        <dsp:cNvPr id="0" name=""/>
        <dsp:cNvSpPr/>
      </dsp:nvSpPr>
      <dsp:spPr>
        <a:xfrm rot="2400000">
          <a:off x="6321847" y="2377256"/>
          <a:ext cx="2790853" cy="1814054"/>
        </a:xfrm>
        <a:prstGeom prst="round2Same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82550" rIns="2476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6500" kern="1200"/>
        </a:p>
      </dsp:txBody>
      <dsp:txXfrm>
        <a:off x="6381941" y="2455452"/>
        <a:ext cx="2613743" cy="1725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34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37218" y="498764"/>
            <a:ext cx="4804756" cy="4804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4156364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31273" y="1596044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Компьютерная игра «Виселица»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1273" y="2327564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37B80-6B32-4DD4-BFF3-D4D5B23947A0}"/>
              </a:ext>
            </a:extLst>
          </p:cNvPr>
          <p:cNvSpPr txBox="1"/>
          <p:nvPr/>
        </p:nvSpPr>
        <p:spPr>
          <a:xfrm>
            <a:off x="831273" y="2701636"/>
            <a:ext cx="4995786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Игра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«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Виселица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представляет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собой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увлекательную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адаптацию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классической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словесной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игры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где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игроки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по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очереди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угадывают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буквы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в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скрытом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i="1" kern="1200" dirty="0" err="1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слове</a:t>
            </a:r>
            <a:r>
              <a:rPr lang="en-US" sz="2400" i="1" kern="1200" dirty="0">
                <a:ln w="0"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ru-RU" sz="2400" i="1" dirty="0">
              <a:ln w="0"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980283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Bahnschrift" panose="020B0502040204020203" pitchFamily="34" charset="0"/>
              </a:rPr>
              <a:t>Правила игры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15636" y="2543694"/>
            <a:ext cx="3325091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Candara Light" panose="020E0502030303020204" pitchFamily="34" charset="0"/>
              </a:rPr>
              <a:t>Цель игры — отгадать слово, не превышая количество попыток, за которые можно допустить несколько ошибок.</a:t>
            </a:r>
            <a:endParaRPr lang="en-US" b="1" dirty="0">
              <a:latin typeface="Candara Light" panose="020E0502030303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0" y="2793076"/>
            <a:ext cx="3325091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ndara Light" panose="020E0502030303020204" pitchFamily="34" charset="0"/>
              </a:rPr>
              <a:t>За каждую неверную попытку игрок угадывает букву, но добавляет элемент «виселицы», приближая поражение.</a:t>
            </a:r>
            <a:endParaRPr lang="en-US" dirty="0">
              <a:latin typeface="Candara Light" panose="020E0502030303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728364" y="254493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ndara Light" panose="020E0502030303020204" pitchFamily="34" charset="0"/>
              </a:rPr>
              <a:t>Побеждает тот, кто отгадает слово до того, как «виселица» будет завершена.</a:t>
            </a:r>
            <a:endParaRPr lang="en-US" dirty="0">
              <a:latin typeface="Candara Light" panose="020E050203030302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C68BF04-17FF-4560-B2F1-1A4368D61D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2214787"/>
              </p:ext>
            </p:extLst>
          </p:nvPr>
        </p:nvGraphicFramePr>
        <p:xfrm>
          <a:off x="2016000" y="720000"/>
          <a:ext cx="911589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7335AD4-6ABC-4081-954A-F861DDECA576}"/>
              </a:ext>
            </a:extLst>
          </p:cNvPr>
          <p:cNvSpPr/>
          <p:nvPr/>
        </p:nvSpPr>
        <p:spPr>
          <a:xfrm>
            <a:off x="-428017" y="0"/>
            <a:ext cx="12821055" cy="257783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831273" y="1180407"/>
            <a:ext cx="598516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Bahnschrift" panose="020B0502040204020203" pitchFamily="34" charset="0"/>
              </a:rPr>
              <a:t>Особенности</a:t>
            </a:r>
            <a:r>
              <a:rPr lang="en-US" sz="2200" b="1" dirty="0">
                <a:solidFill>
                  <a:srgbClr val="000000"/>
                </a:solidFill>
              </a:rPr>
              <a:t> игрового процесса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2" y="3014513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Candara Light" panose="020E0502030303020204" pitchFamily="34" charset="0"/>
              </a:rPr>
              <a:t>Цель игры — правильно отгадать слово до того, как будет повешен нарисованный на экране висельник. Каждый неверный ответ приближает игрока к поражению, что добавляет динамики и напряжения в игровой процесс.</a:t>
            </a:r>
            <a:endParaRPr lang="en-US" b="1" dirty="0">
              <a:latin typeface="Candara Light" panose="020E0502030303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CAE68A8-7BF2-4E7A-9C9E-2F9A2E9D2238}"/>
              </a:ext>
            </a:extLst>
          </p:cNvPr>
          <p:cNvSpPr/>
          <p:nvPr/>
        </p:nvSpPr>
        <p:spPr>
          <a:xfrm>
            <a:off x="0" y="310456"/>
            <a:ext cx="7023370" cy="1866285"/>
          </a:xfrm>
          <a:custGeom>
            <a:avLst/>
            <a:gdLst>
              <a:gd name="connsiteX0" fmla="*/ 0 w 7023370"/>
              <a:gd name="connsiteY0" fmla="*/ 565033 h 1866285"/>
              <a:gd name="connsiteX1" fmla="*/ 291830 w 7023370"/>
              <a:gd name="connsiteY1" fmla="*/ 195382 h 1866285"/>
              <a:gd name="connsiteX2" fmla="*/ 661481 w 7023370"/>
              <a:gd name="connsiteY2" fmla="*/ 20284 h 1866285"/>
              <a:gd name="connsiteX3" fmla="*/ 1128409 w 7023370"/>
              <a:gd name="connsiteY3" fmla="*/ 49467 h 1866285"/>
              <a:gd name="connsiteX4" fmla="*/ 1721796 w 7023370"/>
              <a:gd name="connsiteY4" fmla="*/ 428846 h 1866285"/>
              <a:gd name="connsiteX5" fmla="*/ 2402732 w 7023370"/>
              <a:gd name="connsiteY5" fmla="*/ 195382 h 1866285"/>
              <a:gd name="connsiteX6" fmla="*/ 2986391 w 7023370"/>
              <a:gd name="connsiteY6" fmla="*/ 244021 h 1866285"/>
              <a:gd name="connsiteX7" fmla="*/ 3677055 w 7023370"/>
              <a:gd name="connsiteY7" fmla="*/ 594216 h 1866285"/>
              <a:gd name="connsiteX8" fmla="*/ 4708187 w 7023370"/>
              <a:gd name="connsiteY8" fmla="*/ 68923 h 1866285"/>
              <a:gd name="connsiteX9" fmla="*/ 5885234 w 7023370"/>
              <a:gd name="connsiteY9" fmla="*/ 360753 h 1866285"/>
              <a:gd name="connsiteX10" fmla="*/ 6322979 w 7023370"/>
              <a:gd name="connsiteY10" fmla="*/ 1742080 h 1866285"/>
              <a:gd name="connsiteX11" fmla="*/ 7023370 w 7023370"/>
              <a:gd name="connsiteY11" fmla="*/ 1800446 h 1866285"/>
              <a:gd name="connsiteX12" fmla="*/ 7023370 w 7023370"/>
              <a:gd name="connsiteY12" fmla="*/ 1800446 h 1866285"/>
              <a:gd name="connsiteX13" fmla="*/ 7023370 w 7023370"/>
              <a:gd name="connsiteY13" fmla="*/ 1800446 h 1866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023370" h="1866285">
                <a:moveTo>
                  <a:pt x="0" y="565033"/>
                </a:moveTo>
                <a:cubicBezTo>
                  <a:pt x="90791" y="425603"/>
                  <a:pt x="181583" y="286173"/>
                  <a:pt x="291830" y="195382"/>
                </a:cubicBezTo>
                <a:cubicBezTo>
                  <a:pt x="402077" y="104590"/>
                  <a:pt x="522051" y="44603"/>
                  <a:pt x="661481" y="20284"/>
                </a:cubicBezTo>
                <a:cubicBezTo>
                  <a:pt x="800911" y="-4035"/>
                  <a:pt x="951690" y="-18627"/>
                  <a:pt x="1128409" y="49467"/>
                </a:cubicBezTo>
                <a:cubicBezTo>
                  <a:pt x="1305128" y="117561"/>
                  <a:pt x="1509409" y="404527"/>
                  <a:pt x="1721796" y="428846"/>
                </a:cubicBezTo>
                <a:cubicBezTo>
                  <a:pt x="1934183" y="453165"/>
                  <a:pt x="2191966" y="226186"/>
                  <a:pt x="2402732" y="195382"/>
                </a:cubicBezTo>
                <a:cubicBezTo>
                  <a:pt x="2613498" y="164578"/>
                  <a:pt x="2774004" y="177549"/>
                  <a:pt x="2986391" y="244021"/>
                </a:cubicBezTo>
                <a:cubicBezTo>
                  <a:pt x="3198778" y="310493"/>
                  <a:pt x="3390089" y="623399"/>
                  <a:pt x="3677055" y="594216"/>
                </a:cubicBezTo>
                <a:cubicBezTo>
                  <a:pt x="3964021" y="565033"/>
                  <a:pt x="4340157" y="107833"/>
                  <a:pt x="4708187" y="68923"/>
                </a:cubicBezTo>
                <a:cubicBezTo>
                  <a:pt x="5076217" y="30012"/>
                  <a:pt x="5616102" y="81894"/>
                  <a:pt x="5885234" y="360753"/>
                </a:cubicBezTo>
                <a:cubicBezTo>
                  <a:pt x="6154366" y="639612"/>
                  <a:pt x="6133290" y="1502131"/>
                  <a:pt x="6322979" y="1742080"/>
                </a:cubicBezTo>
                <a:cubicBezTo>
                  <a:pt x="6512668" y="1982029"/>
                  <a:pt x="7023370" y="1800446"/>
                  <a:pt x="7023370" y="1800446"/>
                </a:cubicBezTo>
                <a:lnTo>
                  <a:pt x="7023370" y="1800446"/>
                </a:lnTo>
                <a:lnTo>
                  <a:pt x="7023370" y="1800446"/>
                </a:lnTo>
              </a:path>
            </a:pathLst>
          </a:custGeom>
          <a:noFill/>
          <a:ln>
            <a:solidFill>
              <a:srgbClr val="B5C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Популярные версии игры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ndara Light" panose="020E0502030303020204" pitchFamily="34" charset="0"/>
              </a:rPr>
              <a:t>Игра «Виселица» представлена в различных версиях для разных платформ, включая персональные компьютеры, мобильные устройства и игровые консоли.</a:t>
            </a:r>
            <a:endParaRPr lang="en-US" sz="1400" dirty="0">
              <a:latin typeface="Candara Light" panose="020E0502030303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ndara Light" panose="020E0502030303020204" pitchFamily="34" charset="0"/>
              </a:rPr>
              <a:t>Наиболее популярные версии адаптированы под </a:t>
            </a:r>
            <a:r>
              <a:rPr lang="en-US" dirty="0" err="1">
                <a:solidFill>
                  <a:srgbClr val="000000"/>
                </a:solidFill>
                <a:latin typeface="Candara Light" panose="020E0502030303020204" pitchFamily="34" charset="0"/>
              </a:rPr>
              <a:t>современные</a:t>
            </a:r>
            <a:r>
              <a:rPr lang="en-US" dirty="0">
                <a:solidFill>
                  <a:srgbClr val="000000"/>
                </a:solidFill>
                <a:latin typeface="Candara Light" panose="020E0502030303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ndara Light" panose="020E0502030303020204" pitchFamily="34" charset="0"/>
              </a:rPr>
              <a:t>операционные</a:t>
            </a:r>
            <a:r>
              <a:rPr lang="en-US" dirty="0">
                <a:solidFill>
                  <a:srgbClr val="000000"/>
                </a:solidFill>
                <a:latin typeface="Candara Light" panose="020E0502030303020204" pitchFamily="34" charset="0"/>
              </a:rPr>
              <a:t> системы и предлагают разнообразные уровни сложности и тематические дополнения.</a:t>
            </a:r>
            <a:endParaRPr lang="en-US" dirty="0">
              <a:latin typeface="Candara Light" panose="020E0502030303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Версии игры регулярно обновляются, добавляя новые слова и улучшая игровой процесс.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815789"/>
            <a:ext cx="4802393" cy="543538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5818909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837507" y="689921"/>
            <a:ext cx="5985163" cy="5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Bahnschrift" panose="020B0502040204020203" pitchFamily="34" charset="0"/>
              </a:rPr>
              <a:t>Интересные факты о «Виселице»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Candara Light" panose="020E0502030303020204" pitchFamily="34" charset="0"/>
              </a:rPr>
              <a:t>«Виселица» — это классическая текстовая игра, в которой один игрок загадывает слово, а другой пытается его угадать, отгадывая буквы.</a:t>
            </a:r>
            <a:endParaRPr lang="en-US" b="1" dirty="0">
              <a:latin typeface="Candara Light" panose="020E0502030303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31272" y="4089862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Candara Light" panose="020E0502030303020204" pitchFamily="34" charset="0"/>
              </a:rPr>
              <a:t>Игра получила своё название из-за механики, где с каждой неверной попыткой на экране появляется часть виселицы, символизируя приближение проигрыша. «Виселица» стала популярной благодаря своей простоте и увлекательности, что сделало её одной из самых известных игр в текстовом формате.</a:t>
            </a:r>
            <a:endParaRPr lang="en-US" b="1" dirty="0">
              <a:latin typeface="Candara Light" panose="020E0502030303020204" pitchFamily="34" charset="0"/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9F4096A2-DD1E-4851-8157-BD95C5B31084}"/>
              </a:ext>
            </a:extLst>
          </p:cNvPr>
          <p:cNvSpPr/>
          <p:nvPr/>
        </p:nvSpPr>
        <p:spPr>
          <a:xfrm flipV="1">
            <a:off x="-1" y="3962398"/>
            <a:ext cx="765789" cy="1289616"/>
          </a:xfrm>
          <a:prstGeom prst="bentArrow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accent3">
                  <a:lumMod val="60000"/>
                  <a:lumOff val="40000"/>
                </a:schemeClr>
              </a:gs>
              <a:gs pos="21000">
                <a:schemeClr val="accent3">
                  <a:lumMod val="40000"/>
                  <a:lumOff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1DA4CF16-7555-4DBD-B244-EA5BF3381FB0}"/>
              </a:ext>
            </a:extLst>
          </p:cNvPr>
          <p:cNvSpPr/>
          <p:nvPr/>
        </p:nvSpPr>
        <p:spPr>
          <a:xfrm flipV="1">
            <a:off x="0" y="1605986"/>
            <a:ext cx="765789" cy="1289616"/>
          </a:xfrm>
          <a:prstGeom prst="bentArrow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accent3">
                  <a:lumMod val="60000"/>
                  <a:lumOff val="40000"/>
                </a:schemeClr>
              </a:gs>
              <a:gs pos="21000">
                <a:schemeClr val="accent3">
                  <a:lumMod val="40000"/>
                  <a:lumOff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игру «Виселица», её правила и особенности игрового процесса. Мы также узнали о популярных версиях игры и интересных фактах, связанных с ней. Надеемся, что эта информация была полезной и интересной.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303</Words>
  <Application>Microsoft Office PowerPoint</Application>
  <PresentationFormat>Widescreen</PresentationFormat>
  <Paragraphs>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Bahnschrift</vt:lpstr>
      <vt:lpstr>Calibri</vt:lpstr>
      <vt:lpstr>Calibri Light</vt:lpstr>
      <vt:lpstr>Candara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Эрви Смисс</cp:lastModifiedBy>
  <cp:revision>6</cp:revision>
  <dcterms:created xsi:type="dcterms:W3CDTF">2026-01-22T19:44:53Z</dcterms:created>
  <dcterms:modified xsi:type="dcterms:W3CDTF">2026-01-22T20:30:02Z</dcterms:modified>
</cp:coreProperties>
</file>